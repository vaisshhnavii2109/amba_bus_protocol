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75" r:id="rId9"/>
    <p:sldId id="278" r:id="rId10"/>
    <p:sldId id="279" r:id="rId11"/>
    <p:sldId id="280" r:id="rId12"/>
    <p:sldId id="263" r:id="rId13"/>
    <p:sldId id="272" r:id="rId14"/>
    <p:sldId id="266" r:id="rId15"/>
    <p:sldId id="276" r:id="rId16"/>
    <p:sldId id="281" r:id="rId17"/>
    <p:sldId id="282" r:id="rId18"/>
    <p:sldId id="267" r:id="rId19"/>
    <p:sldId id="268" r:id="rId20"/>
    <p:sldId id="269" r:id="rId21"/>
    <p:sldId id="270" r:id="rId22"/>
    <p:sldId id="271" r:id="rId23"/>
  </p:sldIdLst>
  <p:sldSz cx="18288000" cy="10287000"/>
  <p:notesSz cx="6858000" cy="9144000"/>
  <p:embeddedFontLst>
    <p:embeddedFont>
      <p:font typeface="Arial Nova" panose="020B0504020202020204"/>
      <p:regular r:id="rId27"/>
    </p:embeddedFont>
    <p:embeddedFont>
      <p:font typeface="Times New Roman Bold" panose="02030802070405020303"/>
      <p:bold r:id="rId28"/>
    </p:embeddedFont>
    <p:embeddedFont>
      <p:font typeface="Calibri" panose="020F050202020403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12346723" y="6924675"/>
            <a:ext cx="4121652" cy="1346200"/>
          </a:xfrm>
          <a:prstGeom prst="rect">
            <a:avLst/>
          </a:prstGeom>
        </p:spPr>
        <p:txBody>
          <a:bodyPr lIns="0" tIns="0" rIns="0" bIns="0" rtlCol="0" anchor="t">
            <a:spAutoFit/>
          </a:bodyPr>
          <a:lstStyle/>
          <a:p>
            <a:pPr algn="r">
              <a:lnSpc>
                <a:spcPts val="5250"/>
              </a:lnSpc>
            </a:pPr>
            <a:r>
              <a:rPr lang="en-US" sz="3500">
                <a:solidFill>
                  <a:srgbClr val="000000"/>
                </a:solidFill>
                <a:latin typeface="Arial Nova" panose="020B0504020202020204"/>
                <a:ea typeface="Arial Nova" panose="020B0504020202020204"/>
                <a:cs typeface="Arial Nova" panose="020B0504020202020204"/>
                <a:sym typeface="Arial Nova" panose="020B0504020202020204"/>
              </a:rPr>
              <a:t> Vaishnavi R Katti</a:t>
            </a:r>
            <a:endParaRPr lang="en-US" sz="3500">
              <a:solidFill>
                <a:srgbClr val="000000"/>
              </a:solidFill>
              <a:latin typeface="Arial Nova" panose="020B0504020202020204"/>
              <a:ea typeface="Arial Nova" panose="020B0504020202020204"/>
              <a:cs typeface="Arial Nova" panose="020B0504020202020204"/>
              <a:sym typeface="Arial Nova" panose="020B0504020202020204"/>
            </a:endParaRPr>
          </a:p>
          <a:p>
            <a:pPr algn="r">
              <a:lnSpc>
                <a:spcPts val="5250"/>
              </a:lnSpc>
            </a:pPr>
            <a:endParaRPr lang="en-US" sz="3500">
              <a:solidFill>
                <a:srgbClr val="000000"/>
              </a:solidFill>
              <a:latin typeface="Arial Nova" panose="020B0504020202020204"/>
              <a:ea typeface="Arial Nova" panose="020B0504020202020204"/>
              <a:cs typeface="Arial Nova" panose="020B0504020202020204"/>
              <a:sym typeface="Arial Nova" panose="020B0504020202020204"/>
            </a:endParaRPr>
          </a:p>
        </p:txBody>
      </p:sp>
      <p:sp>
        <p:nvSpPr>
          <p:cNvPr id="3" name="TextBox 3"/>
          <p:cNvSpPr txBox="1"/>
          <p:nvPr/>
        </p:nvSpPr>
        <p:spPr>
          <a:xfrm>
            <a:off x="1028700" y="4161471"/>
            <a:ext cx="16230600" cy="1802133"/>
          </a:xfrm>
          <a:prstGeom prst="rect">
            <a:avLst/>
          </a:prstGeom>
        </p:spPr>
        <p:txBody>
          <a:bodyPr lIns="0" tIns="0" rIns="0" bIns="0" rtlCol="0" anchor="t">
            <a:spAutoFit/>
          </a:bodyPr>
          <a:lstStyle/>
          <a:p>
            <a:pPr algn="ctr">
              <a:lnSpc>
                <a:spcPts val="12420"/>
              </a:lnSpc>
            </a:pPr>
            <a:r>
              <a:rPr lang="en-US" sz="10800" spc="54">
                <a:solidFill>
                  <a:srgbClr val="000000"/>
                </a:solidFill>
                <a:latin typeface="Times New Roman" panose="02020603050405020304"/>
                <a:ea typeface="Times New Roman" panose="02020603050405020304"/>
                <a:cs typeface="Times New Roman" panose="02020603050405020304"/>
                <a:sym typeface="Times New Roman" panose="02020603050405020304"/>
              </a:rPr>
              <a:t>AMBA BUS PROTOCOL</a:t>
            </a:r>
            <a:endParaRPr lang="en-US" sz="10800" spc="54">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5632375" y="604813"/>
            <a:ext cx="7023250" cy="1369695"/>
          </a:xfrm>
          <a:prstGeom prst="rect">
            <a:avLst/>
          </a:prstGeom>
        </p:spPr>
        <p:txBody>
          <a:bodyPr lIns="0" tIns="0" rIns="0" bIns="0" rtlCol="0" anchor="t">
            <a:spAutoFit/>
          </a:bodyPr>
          <a:lstStyle/>
          <a:p>
            <a:pPr algn="ctr">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CONTENTS</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Box 3"/>
          <p:cNvSpPr txBox="1"/>
          <p:nvPr/>
        </p:nvSpPr>
        <p:spPr>
          <a:xfrm>
            <a:off x="662302" y="2352416"/>
            <a:ext cx="16596998" cy="6534785"/>
          </a:xfrm>
          <a:prstGeom prst="rect">
            <a:avLst/>
          </a:prstGeom>
        </p:spPr>
        <p:txBody>
          <a:bodyPr lIns="0" tIns="0" rIns="0" bIns="0" rtlCol="0" anchor="t">
            <a:spAutoFit/>
          </a:bodyPr>
          <a:lstStyle/>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AMBA Bus Protocol</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APB</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13560" lvl="3" indent="-45339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Block Diagram</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13560" lvl="3" indent="-45339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Simulation Result in Verilog, SV and UVM</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13560" lvl="3" indent="-45339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Coverage Report in SV and UVM</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AHB</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13560" lvl="3" indent="-45339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Block Diagram</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13560" lvl="3" indent="-45339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Simulation Result in Verilog, SV and UVM</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13560" lvl="3" indent="-45339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Coverage Report in SV and UVM</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Conclusion</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Future Work</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4520" lvl="1" indent="-302260" algn="just">
              <a:lnSpc>
                <a:spcPts val="3920"/>
              </a:lnSpc>
              <a:buFont typeface="Arial" panose="020B0604020202020204"/>
              <a:buChar char="•"/>
            </a:pPr>
            <a:r>
              <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28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2975037" y="1575435"/>
          <a:ext cx="4071440" cy="4460218"/>
        </p:xfrm>
        <a:graphic>
          <a:graphicData uri="http://schemas.openxmlformats.org/drawingml/2006/table">
            <a:tbl>
              <a:tblPr/>
              <a:tblGrid>
                <a:gridCol w="694759"/>
                <a:gridCol w="3355364"/>
              </a:tblGrid>
              <a:tr h="1115054">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Advance</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r>
              <a:tr h="1115054">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M</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Microcontroller</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r>
              <a:tr h="1115054">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B</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Bus </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r>
              <a:tr h="1115054">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c>
                  <a:txBody>
                    <a:bodyPr rtlCol="0"/>
                    <a:lstStyle/>
                    <a:p>
                      <a:pPr algn="l">
                        <a:lnSpc>
                          <a:spcPts val="3920"/>
                        </a:lnSpc>
                        <a:defRPr/>
                      </a:pPr>
                      <a:r>
                        <a:rPr lang="en-US" sz="28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Architecture</a:t>
                      </a:r>
                      <a:endParaRPr lang="en-US" sz="1100"/>
                    </a:p>
                  </a:txBody>
                  <a:tcPr marL="190500" marR="190500" marT="190500" marB="1905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987D9A"/>
                    </a:solidFill>
                  </a:tcPr>
                </a:tc>
              </a:tr>
            </a:tbl>
          </a:graphicData>
        </a:graphic>
      </p:graphicFrame>
      <p:sp>
        <p:nvSpPr>
          <p:cNvPr id="3" name="TextBox 3"/>
          <p:cNvSpPr txBox="1"/>
          <p:nvPr/>
        </p:nvSpPr>
        <p:spPr>
          <a:xfrm>
            <a:off x="1028700" y="2185024"/>
            <a:ext cx="11259296" cy="3181350"/>
          </a:xfrm>
          <a:prstGeom prst="rect">
            <a:avLst/>
          </a:prstGeom>
        </p:spPr>
        <p:txBody>
          <a:bodyPr lIns="0" tIns="0" rIns="0" bIns="0" rtlCol="0" anchor="t">
            <a:spAutoFit/>
          </a:bodyPr>
          <a:lstStyle/>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o connect and </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co</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nt</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rol</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v</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ar</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iou</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s System-on-Chip (SoC)</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 components, ARM developed the open standard AMBA</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200"/>
              </a:lnSpc>
            </a:p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It helps ensure fast and efficient communication within an SoC, which is why it’s widely used in chips found in smartphones, IoT devices, and other electronics.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4"/>
          <p:cNvSpPr txBox="1"/>
          <p:nvPr/>
        </p:nvSpPr>
        <p:spPr>
          <a:xfrm>
            <a:off x="1362710" y="205740"/>
            <a:ext cx="813117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Introduction</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5" name="TextBox 5"/>
          <p:cNvSpPr txBox="1"/>
          <p:nvPr/>
        </p:nvSpPr>
        <p:spPr>
          <a:xfrm>
            <a:off x="1176297" y="5966449"/>
            <a:ext cx="9782671" cy="2181225"/>
          </a:xfrm>
          <a:prstGeom prst="rect">
            <a:avLst/>
          </a:prstGeom>
        </p:spPr>
        <p:txBody>
          <a:bodyPr lIns="0" tIns="0" rIns="0" bIns="0" rtlCol="0" anchor="t">
            <a:spAutoFit/>
          </a:bodyPr>
          <a:lstStyle/>
          <a:p>
            <a:pPr algn="just">
              <a:lnSpc>
                <a:spcPts val="4200"/>
              </a:lnSpc>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Types of AMBA Buses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Advanced Peripheral Bus (APB)</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Advanced High Performance Bus (AHB)</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Advanced eXtensible Interface (AXI)</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grpSp>
        <p:nvGrpSpPr>
          <p:cNvPr id="2" name="Group 2"/>
          <p:cNvGrpSpPr/>
          <p:nvPr/>
        </p:nvGrpSpPr>
        <p:grpSpPr>
          <a:xfrm rot="0">
            <a:off x="759255" y="1636703"/>
            <a:ext cx="16500045" cy="7747326"/>
            <a:chOff x="0" y="-370362"/>
            <a:chExt cx="22000060" cy="10329769"/>
          </a:xfrm>
        </p:grpSpPr>
        <p:grpSp>
          <p:nvGrpSpPr>
            <p:cNvPr id="3" name="Group 3"/>
            <p:cNvGrpSpPr/>
            <p:nvPr/>
          </p:nvGrpSpPr>
          <p:grpSpPr>
            <a:xfrm rot="0">
              <a:off x="0" y="2984144"/>
              <a:ext cx="4354372" cy="2839766"/>
              <a:chOff x="0" y="-42553"/>
              <a:chExt cx="860123" cy="560941"/>
            </a:xfrm>
          </p:grpSpPr>
          <p:sp>
            <p:nvSpPr>
              <p:cNvPr id="4" name="Freeform 4"/>
              <p:cNvSpPr/>
              <p:nvPr/>
            </p:nvSpPr>
            <p:spPr>
              <a:xfrm>
                <a:off x="0" y="0"/>
                <a:ext cx="860123" cy="446641"/>
              </a:xfrm>
              <a:custGeom>
                <a:avLst/>
                <a:gdLst/>
                <a:ahLst/>
                <a:cxnLst/>
                <a:rect l="l" t="t" r="r" b="b"/>
                <a:pathLst>
                  <a:path w="860123" h="446641">
                    <a:moveTo>
                      <a:pt x="0" y="0"/>
                    </a:moveTo>
                    <a:lnTo>
                      <a:pt x="860123" y="0"/>
                    </a:lnTo>
                    <a:lnTo>
                      <a:pt x="860123" y="446641"/>
                    </a:lnTo>
                    <a:lnTo>
                      <a:pt x="0" y="446641"/>
                    </a:lnTo>
                    <a:close/>
                  </a:path>
                </a:pathLst>
              </a:custGeom>
              <a:solidFill>
                <a:srgbClr val="FFBD73"/>
              </a:solidFill>
              <a:ln w="38100" cap="sq">
                <a:solidFill>
                  <a:srgbClr val="000000"/>
                </a:solidFill>
                <a:prstDash val="solid"/>
                <a:miter/>
              </a:ln>
            </p:spPr>
          </p:sp>
          <p:sp>
            <p:nvSpPr>
              <p:cNvPr id="5" name="TextBox 5"/>
              <p:cNvSpPr txBox="1"/>
              <p:nvPr/>
            </p:nvSpPr>
            <p:spPr>
              <a:xfrm>
                <a:off x="0" y="-42553"/>
                <a:ext cx="860123" cy="560941"/>
              </a:xfrm>
              <a:prstGeom prst="rect">
                <a:avLst/>
              </a:prstGeom>
            </p:spPr>
            <p:txBody>
              <a:bodyPr lIns="50800" tIns="50800" rIns="50800" bIns="50800" rtlCol="0" anchor="ctr"/>
              <a:lstStyle/>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High Bandwidth </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external memory </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interface</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6" name="Group 6"/>
            <p:cNvGrpSpPr/>
            <p:nvPr/>
          </p:nvGrpSpPr>
          <p:grpSpPr>
            <a:xfrm rot="0">
              <a:off x="4281997" y="7784"/>
              <a:ext cx="4354372" cy="2790239"/>
              <a:chOff x="0" y="-41884"/>
              <a:chExt cx="860123" cy="551158"/>
            </a:xfrm>
          </p:grpSpPr>
          <p:sp>
            <p:nvSpPr>
              <p:cNvPr id="7" name="Freeform 7"/>
              <p:cNvSpPr/>
              <p:nvPr/>
            </p:nvSpPr>
            <p:spPr>
              <a:xfrm>
                <a:off x="0" y="0"/>
                <a:ext cx="860123" cy="436858"/>
              </a:xfrm>
              <a:custGeom>
                <a:avLst/>
                <a:gdLst/>
                <a:ahLst/>
                <a:cxnLst/>
                <a:rect l="l" t="t" r="r" b="b"/>
                <a:pathLst>
                  <a:path w="860123" h="436858">
                    <a:moveTo>
                      <a:pt x="0" y="0"/>
                    </a:moveTo>
                    <a:lnTo>
                      <a:pt x="860123" y="0"/>
                    </a:lnTo>
                    <a:lnTo>
                      <a:pt x="860123" y="436858"/>
                    </a:lnTo>
                    <a:lnTo>
                      <a:pt x="0" y="436858"/>
                    </a:lnTo>
                    <a:close/>
                  </a:path>
                </a:pathLst>
              </a:custGeom>
              <a:solidFill>
                <a:srgbClr val="FFBD73"/>
              </a:solidFill>
              <a:ln w="38100" cap="sq">
                <a:solidFill>
                  <a:srgbClr val="000000"/>
                </a:solidFill>
                <a:prstDash val="solid"/>
                <a:miter/>
              </a:ln>
            </p:spPr>
          </p:sp>
          <p:sp>
            <p:nvSpPr>
              <p:cNvPr id="8" name="TextBox 8"/>
              <p:cNvSpPr txBox="1"/>
              <p:nvPr/>
            </p:nvSpPr>
            <p:spPr>
              <a:xfrm>
                <a:off x="0" y="-41884"/>
                <a:ext cx="860123" cy="551158"/>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High performance ARM processor</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 name="Group 9"/>
            <p:cNvGrpSpPr/>
            <p:nvPr/>
          </p:nvGrpSpPr>
          <p:grpSpPr>
            <a:xfrm rot="0">
              <a:off x="9002474" y="-164933"/>
              <a:ext cx="4354372" cy="2790239"/>
              <a:chOff x="0" y="-76001"/>
              <a:chExt cx="860123" cy="551158"/>
            </a:xfrm>
          </p:grpSpPr>
          <p:sp>
            <p:nvSpPr>
              <p:cNvPr id="10" name="Freeform 10"/>
              <p:cNvSpPr/>
              <p:nvPr/>
            </p:nvSpPr>
            <p:spPr>
              <a:xfrm>
                <a:off x="0" y="0"/>
                <a:ext cx="860123" cy="436858"/>
              </a:xfrm>
              <a:custGeom>
                <a:avLst/>
                <a:gdLst/>
                <a:ahLst/>
                <a:cxnLst/>
                <a:rect l="l" t="t" r="r" b="b"/>
                <a:pathLst>
                  <a:path w="860123" h="436858">
                    <a:moveTo>
                      <a:pt x="0" y="0"/>
                    </a:moveTo>
                    <a:lnTo>
                      <a:pt x="860123" y="0"/>
                    </a:lnTo>
                    <a:lnTo>
                      <a:pt x="860123" y="436858"/>
                    </a:lnTo>
                    <a:lnTo>
                      <a:pt x="0" y="436858"/>
                    </a:lnTo>
                    <a:close/>
                  </a:path>
                </a:pathLst>
              </a:custGeom>
              <a:solidFill>
                <a:srgbClr val="FFBD73"/>
              </a:solidFill>
              <a:ln w="38100" cap="sq">
                <a:solidFill>
                  <a:srgbClr val="000000"/>
                </a:solidFill>
                <a:prstDash val="solid"/>
                <a:miter/>
              </a:ln>
            </p:spPr>
          </p:sp>
          <p:sp>
            <p:nvSpPr>
              <p:cNvPr id="11" name="TextBox 11"/>
              <p:cNvSpPr txBox="1"/>
              <p:nvPr/>
            </p:nvSpPr>
            <p:spPr>
              <a:xfrm>
                <a:off x="0" y="-76001"/>
                <a:ext cx="860123" cy="551158"/>
              </a:xfrm>
              <a:prstGeom prst="rect">
                <a:avLst/>
              </a:prstGeom>
            </p:spPr>
            <p:txBody>
              <a:bodyPr lIns="50800" tIns="50800" rIns="50800" bIns="50800" rtlCol="0" anchor="ctr"/>
              <a:lstStyle/>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High Bandwidth </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on-chip RAM</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 name="Group 12"/>
            <p:cNvGrpSpPr/>
            <p:nvPr/>
          </p:nvGrpSpPr>
          <p:grpSpPr>
            <a:xfrm rot="0">
              <a:off x="6480527" y="7759818"/>
              <a:ext cx="3304328" cy="2199588"/>
              <a:chOff x="0" y="-81186"/>
              <a:chExt cx="652707" cy="434487"/>
            </a:xfrm>
          </p:grpSpPr>
          <p:sp>
            <p:nvSpPr>
              <p:cNvPr id="13" name="Freeform 13"/>
              <p:cNvSpPr/>
              <p:nvPr/>
            </p:nvSpPr>
            <p:spPr>
              <a:xfrm>
                <a:off x="0" y="0"/>
                <a:ext cx="652707" cy="320187"/>
              </a:xfrm>
              <a:custGeom>
                <a:avLst/>
                <a:gdLst/>
                <a:ahLst/>
                <a:cxnLst/>
                <a:rect l="l" t="t" r="r" b="b"/>
                <a:pathLst>
                  <a:path w="652707" h="320187">
                    <a:moveTo>
                      <a:pt x="0" y="0"/>
                    </a:moveTo>
                    <a:lnTo>
                      <a:pt x="652707" y="0"/>
                    </a:lnTo>
                    <a:lnTo>
                      <a:pt x="652707" y="320187"/>
                    </a:lnTo>
                    <a:lnTo>
                      <a:pt x="0" y="320187"/>
                    </a:lnTo>
                    <a:close/>
                  </a:path>
                </a:pathLst>
              </a:custGeom>
              <a:solidFill>
                <a:srgbClr val="FFBD73"/>
              </a:solidFill>
              <a:ln w="38100" cap="sq">
                <a:solidFill>
                  <a:srgbClr val="000000"/>
                </a:solidFill>
                <a:prstDash val="solid"/>
                <a:miter/>
              </a:ln>
            </p:spPr>
          </p:sp>
          <p:sp>
            <p:nvSpPr>
              <p:cNvPr id="14" name="TextBox 14"/>
              <p:cNvSpPr txBox="1"/>
              <p:nvPr/>
            </p:nvSpPr>
            <p:spPr>
              <a:xfrm>
                <a:off x="0" y="-81186"/>
                <a:ext cx="652707" cy="434487"/>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DMA bus master</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 name="Group 15"/>
            <p:cNvGrpSpPr/>
            <p:nvPr/>
          </p:nvGrpSpPr>
          <p:grpSpPr>
            <a:xfrm rot="0">
              <a:off x="3253297" y="5777398"/>
              <a:ext cx="3205886" cy="1904263"/>
              <a:chOff x="0" y="-78176"/>
              <a:chExt cx="633261" cy="376151"/>
            </a:xfrm>
          </p:grpSpPr>
          <p:sp>
            <p:nvSpPr>
              <p:cNvPr id="16" name="Freeform 16"/>
              <p:cNvSpPr/>
              <p:nvPr/>
            </p:nvSpPr>
            <p:spPr>
              <a:xfrm>
                <a:off x="0" y="0"/>
                <a:ext cx="633261" cy="261851"/>
              </a:xfrm>
              <a:custGeom>
                <a:avLst/>
                <a:gdLst/>
                <a:ahLst/>
                <a:cxnLst/>
                <a:rect l="l" t="t" r="r" b="b"/>
                <a:pathLst>
                  <a:path w="633261" h="261851">
                    <a:moveTo>
                      <a:pt x="0" y="0"/>
                    </a:moveTo>
                    <a:lnTo>
                      <a:pt x="633261" y="0"/>
                    </a:lnTo>
                    <a:lnTo>
                      <a:pt x="633261" y="261851"/>
                    </a:lnTo>
                    <a:lnTo>
                      <a:pt x="0" y="261851"/>
                    </a:lnTo>
                    <a:close/>
                  </a:path>
                </a:pathLst>
              </a:custGeom>
              <a:solidFill>
                <a:srgbClr val="FFBD73"/>
              </a:solidFill>
              <a:ln w="38100" cap="sq">
                <a:solidFill>
                  <a:srgbClr val="000000"/>
                </a:solidFill>
                <a:prstDash val="solid"/>
                <a:miter/>
              </a:ln>
            </p:spPr>
          </p:sp>
          <p:sp>
            <p:nvSpPr>
              <p:cNvPr id="17" name="TextBox 17"/>
              <p:cNvSpPr txBox="1"/>
              <p:nvPr/>
            </p:nvSpPr>
            <p:spPr>
              <a:xfrm>
                <a:off x="0" y="-78176"/>
                <a:ext cx="633261" cy="376151"/>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Decoder</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 name="Group 18"/>
            <p:cNvGrpSpPr/>
            <p:nvPr/>
          </p:nvGrpSpPr>
          <p:grpSpPr>
            <a:xfrm rot="0">
              <a:off x="9576717" y="5836665"/>
              <a:ext cx="3205886" cy="1904263"/>
              <a:chOff x="0" y="-66469"/>
              <a:chExt cx="633261" cy="376151"/>
            </a:xfrm>
          </p:grpSpPr>
          <p:sp>
            <p:nvSpPr>
              <p:cNvPr id="19" name="Freeform 19"/>
              <p:cNvSpPr/>
              <p:nvPr/>
            </p:nvSpPr>
            <p:spPr>
              <a:xfrm>
                <a:off x="0" y="0"/>
                <a:ext cx="633261" cy="261851"/>
              </a:xfrm>
              <a:custGeom>
                <a:avLst/>
                <a:gdLst/>
                <a:ahLst/>
                <a:cxnLst/>
                <a:rect l="l" t="t" r="r" b="b"/>
                <a:pathLst>
                  <a:path w="633261" h="261851">
                    <a:moveTo>
                      <a:pt x="0" y="0"/>
                    </a:moveTo>
                    <a:lnTo>
                      <a:pt x="633261" y="0"/>
                    </a:lnTo>
                    <a:lnTo>
                      <a:pt x="633261" y="261851"/>
                    </a:lnTo>
                    <a:lnTo>
                      <a:pt x="0" y="261851"/>
                    </a:lnTo>
                    <a:close/>
                  </a:path>
                </a:pathLst>
              </a:custGeom>
              <a:solidFill>
                <a:srgbClr val="FFBD73"/>
              </a:solidFill>
              <a:ln w="38100" cap="sq">
                <a:solidFill>
                  <a:srgbClr val="000000"/>
                </a:solidFill>
                <a:prstDash val="solid"/>
                <a:miter/>
              </a:ln>
            </p:spPr>
          </p:sp>
          <p:sp>
            <p:nvSpPr>
              <p:cNvPr id="20" name="TextBox 20"/>
              <p:cNvSpPr txBox="1"/>
              <p:nvPr/>
            </p:nvSpPr>
            <p:spPr>
              <a:xfrm>
                <a:off x="0" y="-66469"/>
                <a:ext cx="633261" cy="376151"/>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Arbiter</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1" name="Group 21"/>
            <p:cNvGrpSpPr/>
            <p:nvPr/>
          </p:nvGrpSpPr>
          <p:grpSpPr>
            <a:xfrm rot="0">
              <a:off x="14010896" y="1480662"/>
              <a:ext cx="1609356" cy="5649408"/>
              <a:chOff x="0" y="0"/>
              <a:chExt cx="317897" cy="1115933"/>
            </a:xfrm>
          </p:grpSpPr>
          <p:sp>
            <p:nvSpPr>
              <p:cNvPr id="22" name="Freeform 22"/>
              <p:cNvSpPr/>
              <p:nvPr/>
            </p:nvSpPr>
            <p:spPr>
              <a:xfrm>
                <a:off x="0" y="0"/>
                <a:ext cx="317897" cy="1115933"/>
              </a:xfrm>
              <a:custGeom>
                <a:avLst/>
                <a:gdLst/>
                <a:ahLst/>
                <a:cxnLst/>
                <a:rect l="l" t="t" r="r" b="b"/>
                <a:pathLst>
                  <a:path w="317897" h="1115933">
                    <a:moveTo>
                      <a:pt x="0" y="0"/>
                    </a:moveTo>
                    <a:lnTo>
                      <a:pt x="317897" y="0"/>
                    </a:lnTo>
                    <a:lnTo>
                      <a:pt x="317897" y="1115933"/>
                    </a:lnTo>
                    <a:lnTo>
                      <a:pt x="0" y="1115933"/>
                    </a:lnTo>
                    <a:close/>
                  </a:path>
                </a:pathLst>
              </a:custGeom>
              <a:solidFill>
                <a:srgbClr val="987D9A"/>
              </a:solidFill>
              <a:ln w="38100" cap="sq">
                <a:solidFill>
                  <a:srgbClr val="000000"/>
                </a:solidFill>
                <a:prstDash val="solid"/>
                <a:miter/>
              </a:ln>
            </p:spPr>
          </p:sp>
          <p:sp>
            <p:nvSpPr>
              <p:cNvPr id="23" name="TextBox 23"/>
              <p:cNvSpPr txBox="1"/>
              <p:nvPr/>
            </p:nvSpPr>
            <p:spPr>
              <a:xfrm>
                <a:off x="0" y="-114300"/>
                <a:ext cx="317897" cy="1230233"/>
              </a:xfrm>
              <a:prstGeom prst="rect">
                <a:avLst/>
              </a:prstGeom>
            </p:spPr>
            <p:txBody>
              <a:bodyPr lIns="50800" tIns="50800" rIns="50800" bIns="50800" rtlCol="0" anchor="ctr"/>
              <a:lstStyle/>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B</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R</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I</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D</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pPr>
                <a:r>
                  <a:rPr lang="en-US" sz="2800">
                    <a:solidFill>
                      <a:srgbClr val="000000"/>
                    </a:solidFill>
                    <a:latin typeface="Arial" panose="020B0604020202020204"/>
                    <a:ea typeface="Arial" panose="020B0604020202020204"/>
                    <a:cs typeface="Arial" panose="020B0604020202020204"/>
                    <a:sym typeface="Arial" panose="020B0604020202020204"/>
                  </a:rPr>
                  <a:t>G</a:t>
                </a:r>
                <a:endParaRPr lang="en-US" sz="2800">
                  <a:solidFill>
                    <a:srgbClr val="000000"/>
                  </a:solidFill>
                  <a:latin typeface="Arial" panose="020B0604020202020204"/>
                  <a:ea typeface="Arial" panose="020B0604020202020204"/>
                  <a:cs typeface="Arial" panose="020B0604020202020204"/>
                  <a:sym typeface="Arial" panose="020B0604020202020204"/>
                </a:endParaRPr>
              </a:p>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E</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4" name="Group 24"/>
            <p:cNvGrpSpPr/>
            <p:nvPr/>
          </p:nvGrpSpPr>
          <p:grpSpPr>
            <a:xfrm rot="0">
              <a:off x="16274302" y="1045105"/>
              <a:ext cx="3206731" cy="1904263"/>
              <a:chOff x="0" y="-86036"/>
              <a:chExt cx="633428" cy="376151"/>
            </a:xfrm>
          </p:grpSpPr>
          <p:sp>
            <p:nvSpPr>
              <p:cNvPr id="25" name="Freeform 25"/>
              <p:cNvSpPr/>
              <p:nvPr/>
            </p:nvSpPr>
            <p:spPr>
              <a:xfrm>
                <a:off x="0" y="0"/>
                <a:ext cx="633261" cy="261851"/>
              </a:xfrm>
              <a:custGeom>
                <a:avLst/>
                <a:gdLst/>
                <a:ahLst/>
                <a:cxnLst/>
                <a:rect l="l" t="t" r="r" b="b"/>
                <a:pathLst>
                  <a:path w="633261" h="261851">
                    <a:moveTo>
                      <a:pt x="0" y="0"/>
                    </a:moveTo>
                    <a:lnTo>
                      <a:pt x="633261" y="0"/>
                    </a:lnTo>
                    <a:lnTo>
                      <a:pt x="633261" y="261851"/>
                    </a:lnTo>
                    <a:lnTo>
                      <a:pt x="0" y="261851"/>
                    </a:lnTo>
                    <a:close/>
                  </a:path>
                </a:pathLst>
              </a:custGeom>
              <a:solidFill>
                <a:srgbClr val="A5B68D"/>
              </a:solidFill>
              <a:ln w="38100" cap="sq">
                <a:solidFill>
                  <a:srgbClr val="000000"/>
                </a:solidFill>
                <a:prstDash val="solid"/>
                <a:miter/>
              </a:ln>
            </p:spPr>
          </p:sp>
          <p:sp>
            <p:nvSpPr>
              <p:cNvPr id="26" name="TextBox 26"/>
              <p:cNvSpPr txBox="1"/>
              <p:nvPr/>
            </p:nvSpPr>
            <p:spPr>
              <a:xfrm>
                <a:off x="167" y="-86036"/>
                <a:ext cx="633261" cy="376151"/>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UART</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7" name="Group 27"/>
            <p:cNvGrpSpPr/>
            <p:nvPr/>
          </p:nvGrpSpPr>
          <p:grpSpPr>
            <a:xfrm rot="0">
              <a:off x="18794174" y="-370362"/>
              <a:ext cx="3205886" cy="1904263"/>
              <a:chOff x="0" y="-73158"/>
              <a:chExt cx="633261" cy="376151"/>
            </a:xfrm>
          </p:grpSpPr>
          <p:sp>
            <p:nvSpPr>
              <p:cNvPr id="28" name="Freeform 28"/>
              <p:cNvSpPr/>
              <p:nvPr/>
            </p:nvSpPr>
            <p:spPr>
              <a:xfrm>
                <a:off x="0" y="0"/>
                <a:ext cx="633261" cy="261851"/>
              </a:xfrm>
              <a:custGeom>
                <a:avLst/>
                <a:gdLst/>
                <a:ahLst/>
                <a:cxnLst/>
                <a:rect l="l" t="t" r="r" b="b"/>
                <a:pathLst>
                  <a:path w="633261" h="261851">
                    <a:moveTo>
                      <a:pt x="0" y="0"/>
                    </a:moveTo>
                    <a:lnTo>
                      <a:pt x="633261" y="0"/>
                    </a:lnTo>
                    <a:lnTo>
                      <a:pt x="633261" y="261851"/>
                    </a:lnTo>
                    <a:lnTo>
                      <a:pt x="0" y="261851"/>
                    </a:lnTo>
                    <a:close/>
                  </a:path>
                </a:pathLst>
              </a:custGeom>
              <a:solidFill>
                <a:srgbClr val="A5B68D"/>
              </a:solidFill>
              <a:ln w="38100" cap="sq">
                <a:solidFill>
                  <a:srgbClr val="000000"/>
                </a:solidFill>
                <a:prstDash val="solid"/>
                <a:miter/>
              </a:ln>
            </p:spPr>
          </p:sp>
          <p:sp>
            <p:nvSpPr>
              <p:cNvPr id="29" name="TextBox 29"/>
              <p:cNvSpPr txBox="1"/>
              <p:nvPr/>
            </p:nvSpPr>
            <p:spPr>
              <a:xfrm>
                <a:off x="0" y="-73158"/>
                <a:ext cx="633261" cy="376151"/>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Timer</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0" name="Group 30"/>
            <p:cNvGrpSpPr/>
            <p:nvPr/>
          </p:nvGrpSpPr>
          <p:grpSpPr>
            <a:xfrm rot="0">
              <a:off x="16274302" y="5855295"/>
              <a:ext cx="3206731" cy="1904263"/>
              <a:chOff x="0" y="-62789"/>
              <a:chExt cx="633428" cy="376151"/>
            </a:xfrm>
          </p:grpSpPr>
          <p:sp>
            <p:nvSpPr>
              <p:cNvPr id="31" name="Freeform 31"/>
              <p:cNvSpPr/>
              <p:nvPr/>
            </p:nvSpPr>
            <p:spPr>
              <a:xfrm>
                <a:off x="0" y="0"/>
                <a:ext cx="633261" cy="261851"/>
              </a:xfrm>
              <a:custGeom>
                <a:avLst/>
                <a:gdLst/>
                <a:ahLst/>
                <a:cxnLst/>
                <a:rect l="l" t="t" r="r" b="b"/>
                <a:pathLst>
                  <a:path w="633261" h="261851">
                    <a:moveTo>
                      <a:pt x="0" y="0"/>
                    </a:moveTo>
                    <a:lnTo>
                      <a:pt x="633261" y="0"/>
                    </a:lnTo>
                    <a:lnTo>
                      <a:pt x="633261" y="261851"/>
                    </a:lnTo>
                    <a:lnTo>
                      <a:pt x="0" y="261851"/>
                    </a:lnTo>
                    <a:close/>
                  </a:path>
                </a:pathLst>
              </a:custGeom>
              <a:solidFill>
                <a:srgbClr val="A5B68D"/>
              </a:solidFill>
              <a:ln w="38100" cap="sq">
                <a:solidFill>
                  <a:srgbClr val="000000"/>
                </a:solidFill>
                <a:prstDash val="solid"/>
                <a:miter/>
              </a:ln>
            </p:spPr>
          </p:sp>
          <p:sp>
            <p:nvSpPr>
              <p:cNvPr id="32" name="TextBox 32"/>
              <p:cNvSpPr txBox="1"/>
              <p:nvPr/>
            </p:nvSpPr>
            <p:spPr>
              <a:xfrm>
                <a:off x="167" y="-62789"/>
                <a:ext cx="633261" cy="376151"/>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Keypad</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3" name="Group 33"/>
            <p:cNvGrpSpPr/>
            <p:nvPr/>
          </p:nvGrpSpPr>
          <p:grpSpPr>
            <a:xfrm rot="0">
              <a:off x="18794174" y="7362359"/>
              <a:ext cx="3205886" cy="1904263"/>
              <a:chOff x="0" y="-57939"/>
              <a:chExt cx="633261" cy="376151"/>
            </a:xfrm>
          </p:grpSpPr>
          <p:sp>
            <p:nvSpPr>
              <p:cNvPr id="34" name="Freeform 34"/>
              <p:cNvSpPr/>
              <p:nvPr/>
            </p:nvSpPr>
            <p:spPr>
              <a:xfrm>
                <a:off x="0" y="0"/>
                <a:ext cx="633261" cy="261851"/>
              </a:xfrm>
              <a:custGeom>
                <a:avLst/>
                <a:gdLst/>
                <a:ahLst/>
                <a:cxnLst/>
                <a:rect l="l" t="t" r="r" b="b"/>
                <a:pathLst>
                  <a:path w="633261" h="261851">
                    <a:moveTo>
                      <a:pt x="0" y="0"/>
                    </a:moveTo>
                    <a:lnTo>
                      <a:pt x="633261" y="0"/>
                    </a:lnTo>
                    <a:lnTo>
                      <a:pt x="633261" y="261851"/>
                    </a:lnTo>
                    <a:lnTo>
                      <a:pt x="0" y="261851"/>
                    </a:lnTo>
                    <a:close/>
                  </a:path>
                </a:pathLst>
              </a:custGeom>
              <a:solidFill>
                <a:srgbClr val="A5B68D"/>
              </a:solidFill>
              <a:ln w="38100" cap="sq">
                <a:solidFill>
                  <a:srgbClr val="000000"/>
                </a:solidFill>
                <a:prstDash val="solid"/>
                <a:miter/>
              </a:ln>
            </p:spPr>
          </p:sp>
          <p:sp>
            <p:nvSpPr>
              <p:cNvPr id="35" name="TextBox 35"/>
              <p:cNvSpPr txBox="1"/>
              <p:nvPr/>
            </p:nvSpPr>
            <p:spPr>
              <a:xfrm>
                <a:off x="0" y="-57939"/>
                <a:ext cx="633261" cy="376151"/>
              </a:xfrm>
              <a:prstGeom prst="rect">
                <a:avLst/>
              </a:prstGeom>
            </p:spPr>
            <p:txBody>
              <a:bodyPr lIns="50800" tIns="50800" rIns="50800" bIns="50800" rtlCol="0" anchor="ctr"/>
              <a:lstStyle/>
              <a:p>
                <a:pPr algn="ctr">
                  <a:lnSpc>
                    <a:spcPts val="3920"/>
                  </a:lnSpc>
                  <a:spcBef>
                    <a:spcPct val="0"/>
                  </a:spcBef>
                </a:pPr>
                <a:r>
                  <a:rPr lang="en-US" sz="2800">
                    <a:solidFill>
                      <a:srgbClr val="000000"/>
                    </a:solidFill>
                    <a:latin typeface="Arial" panose="020B0604020202020204"/>
                    <a:ea typeface="Arial" panose="020B0604020202020204"/>
                    <a:cs typeface="Arial" panose="020B0604020202020204"/>
                    <a:sym typeface="Arial" panose="020B0604020202020204"/>
                  </a:rPr>
                  <a:t>PIO</a:t>
                </a:r>
                <a:endParaRPr lang="en-US" sz="2800">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6" name="AutoShape 36"/>
            <p:cNvSpPr/>
            <p:nvPr/>
          </p:nvSpPr>
          <p:spPr>
            <a:xfrm flipV="1">
              <a:off x="4354372" y="4305367"/>
              <a:ext cx="9656524" cy="24764"/>
            </a:xfrm>
            <a:prstGeom prst="line">
              <a:avLst/>
            </a:prstGeom>
            <a:ln w="50800" cap="flat">
              <a:solidFill>
                <a:srgbClr val="000000"/>
              </a:solidFill>
              <a:prstDash val="solid"/>
              <a:headEnd type="none" w="sm" len="sm"/>
              <a:tailEnd type="arrow" w="med" len="sm"/>
            </a:ln>
          </p:spPr>
        </p:sp>
        <p:sp>
          <p:nvSpPr>
            <p:cNvPr id="37" name="AutoShape 37"/>
            <p:cNvSpPr/>
            <p:nvPr/>
          </p:nvSpPr>
          <p:spPr>
            <a:xfrm flipH="1">
              <a:off x="15620252" y="4305367"/>
              <a:ext cx="4776865" cy="0"/>
            </a:xfrm>
            <a:prstGeom prst="line">
              <a:avLst/>
            </a:prstGeom>
            <a:ln w="50800" cap="flat">
              <a:solidFill>
                <a:srgbClr val="000000"/>
              </a:solidFill>
              <a:prstDash val="solid"/>
              <a:headEnd type="none" w="sm" len="sm"/>
              <a:tailEnd type="none" w="sm" len="sm"/>
            </a:ln>
          </p:spPr>
        </p:sp>
        <p:sp>
          <p:nvSpPr>
            <p:cNvPr id="38" name="AutoShape 38"/>
            <p:cNvSpPr/>
            <p:nvPr/>
          </p:nvSpPr>
          <p:spPr>
            <a:xfrm>
              <a:off x="6459183" y="2431417"/>
              <a:ext cx="0" cy="1898714"/>
            </a:xfrm>
            <a:prstGeom prst="line">
              <a:avLst/>
            </a:prstGeom>
            <a:ln w="50800" cap="flat">
              <a:solidFill>
                <a:srgbClr val="000000"/>
              </a:solidFill>
              <a:prstDash val="solid"/>
              <a:headEnd type="none" w="sm" len="sm"/>
              <a:tailEnd type="arrow" w="med" len="sm"/>
            </a:ln>
          </p:spPr>
        </p:sp>
        <p:sp>
          <p:nvSpPr>
            <p:cNvPr id="39" name="AutoShape 39"/>
            <p:cNvSpPr/>
            <p:nvPr/>
          </p:nvSpPr>
          <p:spPr>
            <a:xfrm>
              <a:off x="11179660" y="2431417"/>
              <a:ext cx="0" cy="1898714"/>
            </a:xfrm>
            <a:prstGeom prst="line">
              <a:avLst/>
            </a:prstGeom>
            <a:ln w="50800" cap="flat">
              <a:solidFill>
                <a:srgbClr val="000000"/>
              </a:solidFill>
              <a:prstDash val="solid"/>
              <a:headEnd type="none" w="sm" len="sm"/>
              <a:tailEnd type="arrow" w="med" len="sm"/>
            </a:ln>
          </p:spPr>
        </p:sp>
        <p:sp>
          <p:nvSpPr>
            <p:cNvPr id="40" name="AutoShape 40"/>
            <p:cNvSpPr/>
            <p:nvPr/>
          </p:nvSpPr>
          <p:spPr>
            <a:xfrm>
              <a:off x="17877245" y="2806282"/>
              <a:ext cx="0" cy="1523848"/>
            </a:xfrm>
            <a:prstGeom prst="line">
              <a:avLst/>
            </a:prstGeom>
            <a:ln w="50800" cap="flat">
              <a:solidFill>
                <a:srgbClr val="000000"/>
              </a:solidFill>
              <a:prstDash val="solid"/>
              <a:headEnd type="none" w="sm" len="sm"/>
              <a:tailEnd type="arrow" w="med" len="sm"/>
            </a:ln>
          </p:spPr>
        </p:sp>
        <p:sp>
          <p:nvSpPr>
            <p:cNvPr id="41" name="AutoShape 41"/>
            <p:cNvSpPr/>
            <p:nvPr/>
          </p:nvSpPr>
          <p:spPr>
            <a:xfrm>
              <a:off x="20397117" y="1325620"/>
              <a:ext cx="0" cy="2979747"/>
            </a:xfrm>
            <a:prstGeom prst="line">
              <a:avLst/>
            </a:prstGeom>
            <a:ln w="50800" cap="flat">
              <a:solidFill>
                <a:srgbClr val="000000"/>
              </a:solidFill>
              <a:prstDash val="solid"/>
              <a:headEnd type="none" w="sm" len="sm"/>
              <a:tailEnd type="arrow" w="med" len="sm"/>
            </a:ln>
          </p:spPr>
        </p:sp>
        <p:sp>
          <p:nvSpPr>
            <p:cNvPr id="42" name="AutoShape 42"/>
            <p:cNvSpPr/>
            <p:nvPr/>
          </p:nvSpPr>
          <p:spPr>
            <a:xfrm flipV="1">
              <a:off x="20397117" y="4330131"/>
              <a:ext cx="0" cy="3325544"/>
            </a:xfrm>
            <a:prstGeom prst="line">
              <a:avLst/>
            </a:prstGeom>
            <a:ln w="50800" cap="flat">
              <a:solidFill>
                <a:srgbClr val="000000"/>
              </a:solidFill>
              <a:prstDash val="solid"/>
              <a:headEnd type="none" w="sm" len="sm"/>
              <a:tailEnd type="arrow" w="med" len="sm"/>
            </a:ln>
          </p:spPr>
        </p:sp>
        <p:sp>
          <p:nvSpPr>
            <p:cNvPr id="43" name="AutoShape 43"/>
            <p:cNvSpPr/>
            <p:nvPr/>
          </p:nvSpPr>
          <p:spPr>
            <a:xfrm flipV="1">
              <a:off x="17877245" y="4305367"/>
              <a:ext cx="0" cy="1867797"/>
            </a:xfrm>
            <a:prstGeom prst="line">
              <a:avLst/>
            </a:prstGeom>
            <a:ln w="50800" cap="flat">
              <a:solidFill>
                <a:srgbClr val="000000"/>
              </a:solidFill>
              <a:prstDash val="solid"/>
              <a:headEnd type="none" w="sm" len="sm"/>
              <a:tailEnd type="arrow" w="med" len="sm"/>
            </a:ln>
          </p:spPr>
        </p:sp>
        <p:sp>
          <p:nvSpPr>
            <p:cNvPr id="44" name="AutoShape 44"/>
            <p:cNvSpPr/>
            <p:nvPr/>
          </p:nvSpPr>
          <p:spPr>
            <a:xfrm flipV="1">
              <a:off x="11179660" y="4305367"/>
              <a:ext cx="0" cy="1867797"/>
            </a:xfrm>
            <a:prstGeom prst="line">
              <a:avLst/>
            </a:prstGeom>
            <a:ln w="50800" cap="flat">
              <a:solidFill>
                <a:srgbClr val="000000"/>
              </a:solidFill>
              <a:prstDash val="solid"/>
              <a:headEnd type="none" w="sm" len="sm"/>
              <a:tailEnd type="arrow" w="med" len="sm"/>
            </a:ln>
          </p:spPr>
        </p:sp>
        <p:sp>
          <p:nvSpPr>
            <p:cNvPr id="45" name="AutoShape 45"/>
            <p:cNvSpPr/>
            <p:nvPr/>
          </p:nvSpPr>
          <p:spPr>
            <a:xfrm flipV="1">
              <a:off x="8132691" y="4305367"/>
              <a:ext cx="0" cy="3865455"/>
            </a:xfrm>
            <a:prstGeom prst="line">
              <a:avLst/>
            </a:prstGeom>
            <a:ln w="50800" cap="flat">
              <a:solidFill>
                <a:srgbClr val="000000"/>
              </a:solidFill>
              <a:prstDash val="solid"/>
              <a:headEnd type="none" w="sm" len="sm"/>
              <a:tailEnd type="arrow" w="med" len="sm"/>
            </a:ln>
          </p:spPr>
        </p:sp>
        <p:sp>
          <p:nvSpPr>
            <p:cNvPr id="46" name="AutoShape 46"/>
            <p:cNvSpPr/>
            <p:nvPr/>
          </p:nvSpPr>
          <p:spPr>
            <a:xfrm flipV="1">
              <a:off x="4856240" y="4330131"/>
              <a:ext cx="0" cy="1843033"/>
            </a:xfrm>
            <a:prstGeom prst="line">
              <a:avLst/>
            </a:prstGeom>
            <a:ln w="50800" cap="flat">
              <a:solidFill>
                <a:srgbClr val="000000"/>
              </a:solidFill>
              <a:prstDash val="solid"/>
              <a:headEnd type="none" w="sm" len="sm"/>
              <a:tailEnd type="arrow" w="med" len="sm"/>
            </a:ln>
          </p:spPr>
        </p:sp>
        <p:sp>
          <p:nvSpPr>
            <p:cNvPr id="47" name="TextBox 47"/>
            <p:cNvSpPr txBox="1"/>
            <p:nvPr/>
          </p:nvSpPr>
          <p:spPr>
            <a:xfrm>
              <a:off x="7865029" y="3754611"/>
              <a:ext cx="2476431" cy="550756"/>
            </a:xfrm>
            <a:prstGeom prst="rect">
              <a:avLst/>
            </a:prstGeom>
          </p:spPr>
          <p:txBody>
            <a:bodyPr lIns="0" tIns="0" rIns="0" bIns="0" rtlCol="0" anchor="t">
              <a:spAutoFit/>
            </a:bodyPr>
            <a:lstStyle/>
            <a:p>
              <a:pPr algn="ctr">
                <a:lnSpc>
                  <a:spcPts val="3220"/>
                </a:lnSpc>
              </a:pPr>
              <a:r>
                <a:rPr lang="en-US" sz="23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AHB </a:t>
              </a:r>
              <a:endParaRPr lang="en-US" sz="23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48" name="TextBox 48"/>
            <p:cNvSpPr txBox="1"/>
            <p:nvPr/>
          </p:nvSpPr>
          <p:spPr>
            <a:xfrm>
              <a:off x="18715445" y="3754611"/>
              <a:ext cx="1214810" cy="550756"/>
            </a:xfrm>
            <a:prstGeom prst="rect">
              <a:avLst/>
            </a:prstGeom>
          </p:spPr>
          <p:txBody>
            <a:bodyPr lIns="0" tIns="0" rIns="0" bIns="0" rtlCol="0" anchor="t">
              <a:spAutoFit/>
            </a:bodyPr>
            <a:lstStyle/>
            <a:p>
              <a:pPr algn="ctr">
                <a:lnSpc>
                  <a:spcPts val="3220"/>
                </a:lnSpc>
              </a:pPr>
              <a:r>
                <a:rPr lang="en-US" sz="23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APB</a:t>
              </a:r>
              <a:endParaRPr lang="en-US" sz="23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49" name="TextBox 49"/>
          <p:cNvSpPr txBox="1"/>
          <p:nvPr/>
        </p:nvSpPr>
        <p:spPr>
          <a:xfrm>
            <a:off x="6254115" y="205740"/>
            <a:ext cx="8930640"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Bus Architecture</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Freeform 2"/>
          <p:cNvSpPr/>
          <p:nvPr/>
        </p:nvSpPr>
        <p:spPr>
          <a:xfrm>
            <a:off x="655982" y="2686084"/>
            <a:ext cx="8488018" cy="6248848"/>
          </a:xfrm>
          <a:custGeom>
            <a:avLst/>
            <a:gdLst/>
            <a:ahLst/>
            <a:cxnLst/>
            <a:rect l="l" t="t" r="r" b="b"/>
            <a:pathLst>
              <a:path w="8488018" h="6248848">
                <a:moveTo>
                  <a:pt x="0" y="0"/>
                </a:moveTo>
                <a:lnTo>
                  <a:pt x="8488018" y="0"/>
                </a:lnTo>
                <a:lnTo>
                  <a:pt x="8488018" y="6248848"/>
                </a:lnTo>
                <a:lnTo>
                  <a:pt x="0" y="6248848"/>
                </a:lnTo>
                <a:lnTo>
                  <a:pt x="0" y="0"/>
                </a:lnTo>
                <a:close/>
              </a:path>
            </a:pathLst>
          </a:custGeom>
          <a:blipFill>
            <a:blip r:embed="rId1"/>
            <a:stretch>
              <a:fillRect/>
            </a:stretch>
          </a:blipFill>
        </p:spPr>
      </p:sp>
      <p:sp>
        <p:nvSpPr>
          <p:cNvPr id="3" name="TextBox 3"/>
          <p:cNvSpPr txBox="1"/>
          <p:nvPr/>
        </p:nvSpPr>
        <p:spPr>
          <a:xfrm>
            <a:off x="5210810" y="281940"/>
            <a:ext cx="1051242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APB - Block Diagram</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4" name="Freeform 4"/>
          <p:cNvSpPr/>
          <p:nvPr/>
        </p:nvSpPr>
        <p:spPr>
          <a:xfrm>
            <a:off x="10119966" y="2686084"/>
            <a:ext cx="7517423" cy="6252810"/>
          </a:xfrm>
          <a:custGeom>
            <a:avLst/>
            <a:gdLst/>
            <a:ahLst/>
            <a:cxnLst/>
            <a:rect l="l" t="t" r="r" b="b"/>
            <a:pathLst>
              <a:path w="7517423" h="6252810">
                <a:moveTo>
                  <a:pt x="0" y="0"/>
                </a:moveTo>
                <a:lnTo>
                  <a:pt x="7517423" y="0"/>
                </a:lnTo>
                <a:lnTo>
                  <a:pt x="7517423" y="6252810"/>
                </a:lnTo>
                <a:lnTo>
                  <a:pt x="0" y="6252810"/>
                </a:lnTo>
                <a:lnTo>
                  <a:pt x="0" y="0"/>
                </a:lnTo>
                <a:close/>
              </a:path>
            </a:pathLst>
          </a:custGeom>
          <a:blipFill>
            <a:blip r:embed="rId2"/>
            <a:stretch>
              <a:fillRect/>
            </a:stretch>
          </a:blipFill>
        </p:spPr>
      </p:sp>
      <p:sp>
        <p:nvSpPr>
          <p:cNvPr id="5" name="Text Box 4"/>
          <p:cNvSpPr txBox="1"/>
          <p:nvPr/>
        </p:nvSpPr>
        <p:spPr>
          <a:xfrm>
            <a:off x="655955" y="9105900"/>
            <a:ext cx="8488680" cy="475615"/>
          </a:xfrm>
          <a:prstGeom prst="rect">
            <a:avLst/>
          </a:prstGeom>
          <a:noFill/>
        </p:spPr>
        <p:txBody>
          <a:bodyPr wrap="square" rtlCol="0">
            <a:spAutoFit/>
          </a:bodyPr>
          <a:p>
            <a:pPr algn="ctr"/>
            <a:r>
              <a:rPr lang="en-US" sz="2500"/>
              <a:t>Fig 1 (a): Block Diagram</a:t>
            </a:r>
            <a:endParaRPr lang="en-US" sz="2500"/>
          </a:p>
        </p:txBody>
      </p:sp>
      <p:sp>
        <p:nvSpPr>
          <p:cNvPr id="6" name="Text Box 5"/>
          <p:cNvSpPr txBox="1"/>
          <p:nvPr/>
        </p:nvSpPr>
        <p:spPr>
          <a:xfrm>
            <a:off x="10119995" y="9105900"/>
            <a:ext cx="7516495" cy="475615"/>
          </a:xfrm>
          <a:prstGeom prst="rect">
            <a:avLst/>
          </a:prstGeom>
          <a:noFill/>
        </p:spPr>
        <p:txBody>
          <a:bodyPr wrap="square" rtlCol="0">
            <a:spAutoFit/>
          </a:bodyPr>
          <a:p>
            <a:pPr algn="ctr"/>
            <a:r>
              <a:rPr lang="en-US" sz="2500"/>
              <a:t>Fig 1 (b): FSM </a:t>
            </a:r>
            <a:endParaRPr lang="en-US" sz="2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Freeform 2"/>
          <p:cNvSpPr/>
          <p:nvPr/>
        </p:nvSpPr>
        <p:spPr>
          <a:xfrm>
            <a:off x="1373911" y="2323974"/>
            <a:ext cx="15540179" cy="6058846"/>
          </a:xfrm>
          <a:custGeom>
            <a:avLst/>
            <a:gdLst/>
            <a:ahLst/>
            <a:cxnLst/>
            <a:rect l="l" t="t" r="r" b="b"/>
            <a:pathLst>
              <a:path w="15540179" h="6058846">
                <a:moveTo>
                  <a:pt x="0" y="0"/>
                </a:moveTo>
                <a:lnTo>
                  <a:pt x="15540178" y="0"/>
                </a:lnTo>
                <a:lnTo>
                  <a:pt x="15540178" y="6058846"/>
                </a:lnTo>
                <a:lnTo>
                  <a:pt x="0" y="6058846"/>
                </a:lnTo>
                <a:lnTo>
                  <a:pt x="0" y="0"/>
                </a:lnTo>
                <a:close/>
              </a:path>
            </a:pathLst>
          </a:custGeom>
          <a:blipFill>
            <a:blip r:embed="rId1"/>
            <a:stretch>
              <a:fillRect t="-32086" b="-11867"/>
            </a:stretch>
          </a:blipFill>
        </p:spPr>
      </p:sp>
      <p:sp>
        <p:nvSpPr>
          <p:cNvPr id="3" name="TextBox 3"/>
          <p:cNvSpPr txBox="1"/>
          <p:nvPr/>
        </p:nvSpPr>
        <p:spPr>
          <a:xfrm>
            <a:off x="6059170" y="205740"/>
            <a:ext cx="8726170"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APB - Simulation</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4" name="Text Box 3"/>
          <p:cNvSpPr txBox="1"/>
          <p:nvPr/>
        </p:nvSpPr>
        <p:spPr>
          <a:xfrm>
            <a:off x="1377315" y="8563610"/>
            <a:ext cx="15537180" cy="475615"/>
          </a:xfrm>
          <a:prstGeom prst="rect">
            <a:avLst/>
          </a:prstGeom>
          <a:noFill/>
        </p:spPr>
        <p:txBody>
          <a:bodyPr wrap="square" rtlCol="0">
            <a:spAutoFit/>
          </a:bodyPr>
          <a:p>
            <a:pPr algn="ctr"/>
            <a:r>
              <a:rPr lang="en-US" sz="2500"/>
              <a:t>Fig 2: Simulation Result (Verilog)</a:t>
            </a:r>
            <a:endParaRPr lang="en-US" sz="2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4" name="Freeform 2"/>
          <p:cNvSpPr/>
          <p:nvPr/>
        </p:nvSpPr>
        <p:spPr>
          <a:xfrm>
            <a:off x="590364" y="1028723"/>
            <a:ext cx="17107272" cy="7309462"/>
          </a:xfrm>
          <a:custGeom>
            <a:avLst/>
            <a:gdLst/>
            <a:ahLst/>
            <a:cxnLst/>
            <a:rect l="l" t="t" r="r" b="b"/>
            <a:pathLst>
              <a:path w="17107272" h="7309462">
                <a:moveTo>
                  <a:pt x="0" y="0"/>
                </a:moveTo>
                <a:lnTo>
                  <a:pt x="17107272" y="0"/>
                </a:lnTo>
                <a:lnTo>
                  <a:pt x="17107272" y="7309462"/>
                </a:lnTo>
                <a:lnTo>
                  <a:pt x="0" y="7309462"/>
                </a:lnTo>
                <a:lnTo>
                  <a:pt x="0" y="0"/>
                </a:lnTo>
                <a:close/>
              </a:path>
            </a:pathLst>
          </a:custGeom>
          <a:blipFill>
            <a:blip r:embed="rId1"/>
            <a:stretch>
              <a:fillRect t="-31649"/>
            </a:stretch>
          </a:blipFill>
        </p:spPr>
        <p:txBody>
          <a:bodyPr/>
          <a:p>
            <a:endParaRPr lang="en-US"/>
          </a:p>
        </p:txBody>
      </p:sp>
      <p:sp>
        <p:nvSpPr>
          <p:cNvPr id="5" name="Text Box 4"/>
          <p:cNvSpPr txBox="1"/>
          <p:nvPr/>
        </p:nvSpPr>
        <p:spPr>
          <a:xfrm>
            <a:off x="590550" y="8563610"/>
            <a:ext cx="17106900" cy="475615"/>
          </a:xfrm>
          <a:prstGeom prst="rect">
            <a:avLst/>
          </a:prstGeom>
          <a:noFill/>
        </p:spPr>
        <p:txBody>
          <a:bodyPr wrap="square" rtlCol="0">
            <a:spAutoFit/>
          </a:bodyPr>
          <a:p>
            <a:pPr algn="ctr"/>
            <a:r>
              <a:rPr lang="en-US" sz="2500"/>
              <a:t>Fig 3: Simulation Result (SV)</a:t>
            </a:r>
            <a:endParaRPr lang="en-US" sz="2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5" name="Text Box 4"/>
          <p:cNvSpPr txBox="1"/>
          <p:nvPr/>
        </p:nvSpPr>
        <p:spPr>
          <a:xfrm>
            <a:off x="1035050" y="7886700"/>
            <a:ext cx="16505555" cy="475615"/>
          </a:xfrm>
          <a:prstGeom prst="rect">
            <a:avLst/>
          </a:prstGeom>
          <a:noFill/>
        </p:spPr>
        <p:txBody>
          <a:bodyPr wrap="square" rtlCol="0">
            <a:spAutoFit/>
          </a:bodyPr>
          <a:p>
            <a:pPr algn="ctr"/>
            <a:r>
              <a:rPr lang="en-US" sz="2500"/>
              <a:t>Fig 4: Simulation Result (UVM)</a:t>
            </a:r>
            <a:endParaRPr lang="en-US" sz="2500"/>
          </a:p>
        </p:txBody>
      </p:sp>
      <p:pic>
        <p:nvPicPr>
          <p:cNvPr id="2" name="Picture 1" descr="uvm_waveform"/>
          <p:cNvPicPr>
            <a:picLocks noChangeAspect="1"/>
          </p:cNvPicPr>
          <p:nvPr/>
        </p:nvPicPr>
        <p:blipFill>
          <a:blip r:embed="rId1"/>
          <a:srcRect t="13542" b="19792"/>
          <a:stretch>
            <a:fillRect/>
          </a:stretch>
        </p:blipFill>
        <p:spPr>
          <a:xfrm>
            <a:off x="1035050" y="1257300"/>
            <a:ext cx="16578580" cy="62141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3" name="TextBox 3"/>
          <p:cNvSpPr txBox="1"/>
          <p:nvPr/>
        </p:nvSpPr>
        <p:spPr>
          <a:xfrm>
            <a:off x="3844290" y="205740"/>
            <a:ext cx="10941050" cy="1292225"/>
          </a:xfrm>
          <a:prstGeom prst="rect">
            <a:avLst/>
          </a:prstGeom>
        </p:spPr>
        <p:txBody>
          <a:bodyPr wrap="square" lIns="0" tIns="0" rIns="0" bIns="0" rtlCol="0" anchor="t">
            <a:spAutoFit/>
          </a:bodyPr>
          <a:lstStyle/>
          <a:p>
            <a:pPr algn="ctr">
              <a:lnSpc>
                <a:spcPts val="10080"/>
              </a:lnSpc>
            </a:pPr>
            <a:r>
              <a:rPr lang="en-US" sz="7200" b="1">
                <a:solidFill>
                  <a:srgbClr val="000000"/>
                </a:solidFill>
                <a:latin typeface="Times New Roman" panose="02020603050405020304" charset="0"/>
                <a:ea typeface="Times New Roman Bold" panose="02030802070405020303"/>
                <a:cs typeface="Times New Roman" panose="02020603050405020304" charset="0"/>
                <a:sym typeface="Times New Roman Bold" panose="02030802070405020303"/>
              </a:rPr>
              <a:t>APB - Coverage Report</a:t>
            </a:r>
            <a:endParaRPr lang="en-US" sz="7200" b="1">
              <a:solidFill>
                <a:srgbClr val="000000"/>
              </a:solidFill>
              <a:latin typeface="Times New Roman" panose="02020603050405020304" charset="0"/>
              <a:ea typeface="Times New Roman Bold" panose="02030802070405020303"/>
              <a:cs typeface="Times New Roman" panose="02020603050405020304" charset="0"/>
              <a:sym typeface="Times New Roman Bold" panose="02030802070405020303"/>
            </a:endParaRPr>
          </a:p>
        </p:txBody>
      </p:sp>
      <p:sp>
        <p:nvSpPr>
          <p:cNvPr id="5" name="Freeform 2"/>
          <p:cNvSpPr/>
          <p:nvPr/>
        </p:nvSpPr>
        <p:spPr>
          <a:xfrm>
            <a:off x="938529" y="2400611"/>
            <a:ext cx="16410943" cy="5693131"/>
          </a:xfrm>
          <a:custGeom>
            <a:avLst/>
            <a:gdLst/>
            <a:ahLst/>
            <a:cxnLst/>
            <a:rect l="l" t="t" r="r" b="b"/>
            <a:pathLst>
              <a:path w="16410943" h="5693131">
                <a:moveTo>
                  <a:pt x="0" y="0"/>
                </a:moveTo>
                <a:lnTo>
                  <a:pt x="16410942" y="0"/>
                </a:lnTo>
                <a:lnTo>
                  <a:pt x="16410942" y="5693130"/>
                </a:lnTo>
                <a:lnTo>
                  <a:pt x="0" y="5693130"/>
                </a:lnTo>
                <a:lnTo>
                  <a:pt x="0" y="0"/>
                </a:lnTo>
                <a:close/>
              </a:path>
            </a:pathLst>
          </a:custGeom>
          <a:blipFill>
            <a:blip r:embed="rId1"/>
            <a:stretch>
              <a:fillRect t="-32014" b="-30131"/>
            </a:stretch>
          </a:blipFill>
        </p:spPr>
      </p:sp>
      <p:sp>
        <p:nvSpPr>
          <p:cNvPr id="6" name="Text Box 5"/>
          <p:cNvSpPr txBox="1"/>
          <p:nvPr/>
        </p:nvSpPr>
        <p:spPr>
          <a:xfrm>
            <a:off x="590550" y="8563610"/>
            <a:ext cx="17106900" cy="475615"/>
          </a:xfrm>
          <a:prstGeom prst="rect">
            <a:avLst/>
          </a:prstGeom>
          <a:noFill/>
        </p:spPr>
        <p:txBody>
          <a:bodyPr wrap="square" rtlCol="0">
            <a:spAutoFit/>
          </a:bodyPr>
          <a:p>
            <a:pPr algn="ctr"/>
            <a:r>
              <a:rPr lang="en-US" sz="2500"/>
              <a:t>Fig 5: Coverage Report (SV)</a:t>
            </a:r>
            <a:endParaRPr lang="en-US" sz="2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6" name="Text Box 5"/>
          <p:cNvSpPr txBox="1"/>
          <p:nvPr/>
        </p:nvSpPr>
        <p:spPr>
          <a:xfrm>
            <a:off x="838200" y="8267700"/>
            <a:ext cx="16553180" cy="475615"/>
          </a:xfrm>
          <a:prstGeom prst="rect">
            <a:avLst/>
          </a:prstGeom>
          <a:noFill/>
        </p:spPr>
        <p:txBody>
          <a:bodyPr wrap="square" rtlCol="0">
            <a:spAutoFit/>
          </a:bodyPr>
          <a:p>
            <a:pPr algn="ctr"/>
            <a:r>
              <a:rPr lang="en-US" sz="2500"/>
              <a:t>Fig 6: Coverage Report (UVM)</a:t>
            </a:r>
            <a:endParaRPr lang="en-US" sz="2500"/>
          </a:p>
        </p:txBody>
      </p:sp>
      <p:pic>
        <p:nvPicPr>
          <p:cNvPr id="2" name="Picture 1" descr="uvm_coverage"/>
          <p:cNvPicPr>
            <a:picLocks noChangeAspect="1"/>
          </p:cNvPicPr>
          <p:nvPr/>
        </p:nvPicPr>
        <p:blipFill>
          <a:blip r:embed="rId1"/>
          <a:srcRect t="7292" b="23958"/>
          <a:stretch>
            <a:fillRect/>
          </a:stretch>
        </p:blipFill>
        <p:spPr>
          <a:xfrm>
            <a:off x="837883" y="1409700"/>
            <a:ext cx="16553815" cy="63982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Freeform 2"/>
          <p:cNvSpPr/>
          <p:nvPr/>
        </p:nvSpPr>
        <p:spPr>
          <a:xfrm>
            <a:off x="2124967" y="1943092"/>
            <a:ext cx="14038065" cy="6545248"/>
          </a:xfrm>
          <a:custGeom>
            <a:avLst/>
            <a:gdLst/>
            <a:ahLst/>
            <a:cxnLst/>
            <a:rect l="l" t="t" r="r" b="b"/>
            <a:pathLst>
              <a:path w="14038065" h="6545248">
                <a:moveTo>
                  <a:pt x="0" y="0"/>
                </a:moveTo>
                <a:lnTo>
                  <a:pt x="14038066" y="0"/>
                </a:lnTo>
                <a:lnTo>
                  <a:pt x="14038066" y="6545248"/>
                </a:lnTo>
                <a:lnTo>
                  <a:pt x="0" y="6545248"/>
                </a:lnTo>
                <a:lnTo>
                  <a:pt x="0" y="0"/>
                </a:lnTo>
                <a:close/>
              </a:path>
            </a:pathLst>
          </a:custGeom>
          <a:blipFill>
            <a:blip r:embed="rId1"/>
            <a:stretch>
              <a:fillRect/>
            </a:stretch>
          </a:blipFill>
        </p:spPr>
      </p:sp>
      <p:sp>
        <p:nvSpPr>
          <p:cNvPr id="3" name="TextBox 3"/>
          <p:cNvSpPr txBox="1"/>
          <p:nvPr/>
        </p:nvSpPr>
        <p:spPr>
          <a:xfrm>
            <a:off x="5139690" y="205740"/>
            <a:ext cx="1061021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AHB - Block Diagram</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5" name="Text Box 4"/>
          <p:cNvSpPr txBox="1"/>
          <p:nvPr/>
        </p:nvSpPr>
        <p:spPr>
          <a:xfrm>
            <a:off x="2012315" y="8563610"/>
            <a:ext cx="14150340" cy="475615"/>
          </a:xfrm>
          <a:prstGeom prst="rect">
            <a:avLst/>
          </a:prstGeom>
          <a:noFill/>
        </p:spPr>
        <p:txBody>
          <a:bodyPr wrap="square" rtlCol="0">
            <a:spAutoFit/>
          </a:bodyPr>
          <a:p>
            <a:pPr algn="ctr"/>
            <a:r>
              <a:rPr lang="en-US" sz="2500"/>
              <a:t>Fig 7(a): AHB Block Diagram </a:t>
            </a:r>
            <a:endParaRPr lang="en-US" sz="2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3" name="TextBox 3"/>
          <p:cNvSpPr txBox="1"/>
          <p:nvPr/>
        </p:nvSpPr>
        <p:spPr>
          <a:xfrm>
            <a:off x="5139690" y="205740"/>
            <a:ext cx="1010729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AHB - State Diagram</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pic>
        <p:nvPicPr>
          <p:cNvPr id="2050" name="Picture 2"/>
          <p:cNvPicPr>
            <a:picLocks noGrp="1" noChangeAspect="1" noChangeArrowheads="1"/>
          </p:cNvPicPr>
          <p:nvPr/>
        </p:nvPicPr>
        <p:blipFill>
          <a:blip r:embed="rId1">
            <a:extLst>
              <a:ext uri="{28A0092B-C50C-407E-A947-70E740481C1C}">
                <a14:useLocalDpi xmlns:a14="http://schemas.microsoft.com/office/drawing/2010/main" val="0"/>
              </a:ext>
            </a:extLst>
          </a:blip>
          <a:srcRect l="7244" r="2934" b="10579"/>
          <a:stretch>
            <a:fillRect/>
          </a:stretch>
        </p:blipFill>
        <p:spPr bwMode="auto">
          <a:xfrm>
            <a:off x="9296400" y="3543300"/>
            <a:ext cx="8427085" cy="3726180"/>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4"/>
          <p:cNvSpPr txBox="1"/>
          <p:nvPr/>
        </p:nvSpPr>
        <p:spPr>
          <a:xfrm>
            <a:off x="9296400" y="7734300"/>
            <a:ext cx="8427085" cy="475615"/>
          </a:xfrm>
          <a:prstGeom prst="rect">
            <a:avLst/>
          </a:prstGeom>
          <a:noFill/>
        </p:spPr>
        <p:txBody>
          <a:bodyPr wrap="square" rtlCol="0">
            <a:spAutoFit/>
          </a:bodyPr>
          <a:p>
            <a:pPr algn="ctr"/>
            <a:r>
              <a:rPr lang="en-US" sz="2500"/>
              <a:t>Fig 7(c): AHB slave FSM </a:t>
            </a:r>
            <a:endParaRPr lang="en-US" sz="2500"/>
          </a:p>
        </p:txBody>
      </p:sp>
      <p:pic>
        <p:nvPicPr>
          <p:cNvPr id="4" name="Picture 3"/>
          <p:cNvPicPr/>
          <p:nvPr/>
        </p:nvPicPr>
        <p:blipFill>
          <a:blip r:embed="rId2"/>
          <a:stretch>
            <a:fillRect/>
          </a:stretch>
        </p:blipFill>
        <p:spPr>
          <a:xfrm>
            <a:off x="762000" y="3467100"/>
            <a:ext cx="8032750" cy="3987165"/>
          </a:xfrm>
          <a:prstGeom prst="rect">
            <a:avLst/>
          </a:prstGeom>
        </p:spPr>
      </p:pic>
      <p:sp>
        <p:nvSpPr>
          <p:cNvPr id="6" name="Text Box 5"/>
          <p:cNvSpPr txBox="1"/>
          <p:nvPr/>
        </p:nvSpPr>
        <p:spPr>
          <a:xfrm>
            <a:off x="762000" y="7810500"/>
            <a:ext cx="8032750" cy="475615"/>
          </a:xfrm>
          <a:prstGeom prst="rect">
            <a:avLst/>
          </a:prstGeom>
          <a:noFill/>
        </p:spPr>
        <p:txBody>
          <a:bodyPr wrap="square" rtlCol="0">
            <a:spAutoFit/>
          </a:bodyPr>
          <a:p>
            <a:pPr algn="ctr"/>
            <a:r>
              <a:rPr lang="en-US" sz="2500"/>
              <a:t>Fig 7(b): AHB master FSM </a:t>
            </a:r>
            <a:endParaRPr lang="en-US" sz="2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3" name="TextBox 3"/>
          <p:cNvSpPr txBox="1"/>
          <p:nvPr/>
        </p:nvSpPr>
        <p:spPr>
          <a:xfrm>
            <a:off x="5988050" y="205740"/>
            <a:ext cx="821372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AHB - Simulation</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pic>
        <p:nvPicPr>
          <p:cNvPr id="4" name="Picture 3"/>
          <p:cNvPicPr>
            <a:picLocks noChangeAspect="1"/>
          </p:cNvPicPr>
          <p:nvPr/>
        </p:nvPicPr>
        <p:blipFill>
          <a:blip r:embed="rId1"/>
          <a:stretch>
            <a:fillRect/>
          </a:stretch>
        </p:blipFill>
        <p:spPr>
          <a:xfrm>
            <a:off x="544195" y="1834515"/>
            <a:ext cx="17165320" cy="5496560"/>
          </a:xfrm>
          <a:prstGeom prst="rect">
            <a:avLst/>
          </a:prstGeom>
        </p:spPr>
      </p:pic>
      <p:sp>
        <p:nvSpPr>
          <p:cNvPr id="5" name="Text Box 4"/>
          <p:cNvSpPr txBox="1"/>
          <p:nvPr/>
        </p:nvSpPr>
        <p:spPr>
          <a:xfrm>
            <a:off x="544195" y="7658100"/>
            <a:ext cx="17166590" cy="475615"/>
          </a:xfrm>
          <a:prstGeom prst="rect">
            <a:avLst/>
          </a:prstGeom>
          <a:noFill/>
        </p:spPr>
        <p:txBody>
          <a:bodyPr wrap="square" rtlCol="0">
            <a:spAutoFit/>
          </a:bodyPr>
          <a:p>
            <a:pPr algn="ctr"/>
            <a:r>
              <a:rPr lang="en-US" sz="2500"/>
              <a:t>Fig 8: Simulation Result (Verilog)</a:t>
            </a:r>
            <a:endParaRPr lang="en-US" sz="2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Freeform 2"/>
          <p:cNvSpPr/>
          <p:nvPr/>
        </p:nvSpPr>
        <p:spPr>
          <a:xfrm>
            <a:off x="825060" y="2170690"/>
            <a:ext cx="16637880" cy="5945288"/>
          </a:xfrm>
          <a:custGeom>
            <a:avLst/>
            <a:gdLst/>
            <a:ahLst/>
            <a:cxnLst/>
            <a:rect l="l" t="t" r="r" b="b"/>
            <a:pathLst>
              <a:path w="16637880" h="5945288">
                <a:moveTo>
                  <a:pt x="0" y="0"/>
                </a:moveTo>
                <a:lnTo>
                  <a:pt x="16637880" y="0"/>
                </a:lnTo>
                <a:lnTo>
                  <a:pt x="16637880" y="5945287"/>
                </a:lnTo>
                <a:lnTo>
                  <a:pt x="0" y="5945287"/>
                </a:lnTo>
                <a:lnTo>
                  <a:pt x="0" y="0"/>
                </a:lnTo>
                <a:close/>
              </a:path>
            </a:pathLst>
          </a:custGeom>
          <a:blipFill>
            <a:blip r:embed="rId1"/>
            <a:stretch>
              <a:fillRect t="-38816" r="-1100" b="-20332"/>
            </a:stretch>
          </a:blipFill>
        </p:spPr>
      </p:sp>
      <p:sp>
        <p:nvSpPr>
          <p:cNvPr id="5" name="Text Box 4"/>
          <p:cNvSpPr txBox="1"/>
          <p:nvPr/>
        </p:nvSpPr>
        <p:spPr>
          <a:xfrm>
            <a:off x="824865" y="8648700"/>
            <a:ext cx="16638905" cy="475615"/>
          </a:xfrm>
          <a:prstGeom prst="rect">
            <a:avLst/>
          </a:prstGeom>
          <a:noFill/>
        </p:spPr>
        <p:txBody>
          <a:bodyPr wrap="square" rtlCol="0">
            <a:spAutoFit/>
          </a:bodyPr>
          <a:p>
            <a:pPr algn="ctr"/>
            <a:r>
              <a:rPr lang="en-US" sz="2500"/>
              <a:t>Fig 9: Simulation Result (SV)</a:t>
            </a:r>
            <a:endParaRPr lang="en-US" sz="2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3" name="TextBox 3"/>
          <p:cNvSpPr txBox="1"/>
          <p:nvPr/>
        </p:nvSpPr>
        <p:spPr>
          <a:xfrm>
            <a:off x="3844290" y="205740"/>
            <a:ext cx="10941050" cy="1292225"/>
          </a:xfrm>
          <a:prstGeom prst="rect">
            <a:avLst/>
          </a:prstGeom>
        </p:spPr>
        <p:txBody>
          <a:bodyPr wrap="square" lIns="0" tIns="0" rIns="0" bIns="0" rtlCol="0" anchor="t">
            <a:spAutoFit/>
          </a:bodyPr>
          <a:lstStyle/>
          <a:p>
            <a:pPr algn="ctr">
              <a:lnSpc>
                <a:spcPts val="10080"/>
              </a:lnSpc>
            </a:pPr>
            <a:r>
              <a:rPr lang="en-US" sz="7200" b="1">
                <a:solidFill>
                  <a:srgbClr val="000000"/>
                </a:solidFill>
                <a:latin typeface="Times New Roman" panose="02020603050405020304" charset="0"/>
                <a:ea typeface="Times New Roman Bold" panose="02030802070405020303"/>
                <a:cs typeface="Times New Roman" panose="02020603050405020304" charset="0"/>
                <a:sym typeface="Times New Roman Bold" panose="02030802070405020303"/>
              </a:rPr>
              <a:t>AHB - Coverage Report</a:t>
            </a:r>
            <a:endParaRPr lang="en-US" sz="7200" b="1">
              <a:solidFill>
                <a:srgbClr val="000000"/>
              </a:solidFill>
              <a:latin typeface="Times New Roman" panose="02020603050405020304" charset="0"/>
              <a:ea typeface="Times New Roman Bold" panose="02030802070405020303"/>
              <a:cs typeface="Times New Roman" panose="02020603050405020304" charset="0"/>
              <a:sym typeface="Times New Roman Bold" panose="02030802070405020303"/>
            </a:endParaRPr>
          </a:p>
        </p:txBody>
      </p:sp>
      <p:sp>
        <p:nvSpPr>
          <p:cNvPr id="6" name="Text Box 5"/>
          <p:cNvSpPr txBox="1"/>
          <p:nvPr/>
        </p:nvSpPr>
        <p:spPr>
          <a:xfrm>
            <a:off x="590550" y="8563610"/>
            <a:ext cx="17106900" cy="475615"/>
          </a:xfrm>
          <a:prstGeom prst="rect">
            <a:avLst/>
          </a:prstGeom>
          <a:noFill/>
        </p:spPr>
        <p:txBody>
          <a:bodyPr wrap="square" rtlCol="0">
            <a:spAutoFit/>
          </a:bodyPr>
          <a:p>
            <a:pPr algn="ctr"/>
            <a:r>
              <a:rPr lang="en-US" sz="2500"/>
              <a:t>Fig 11: Coverage Report (SV)</a:t>
            </a:r>
            <a:endParaRPr lang="en-US" sz="2500"/>
          </a:p>
        </p:txBody>
      </p:sp>
      <p:pic>
        <p:nvPicPr>
          <p:cNvPr id="2" name="Picture 1" descr="sv_coverage"/>
          <p:cNvPicPr>
            <a:picLocks noChangeAspect="1"/>
          </p:cNvPicPr>
          <p:nvPr/>
        </p:nvPicPr>
        <p:blipFill>
          <a:blip r:embed="rId1"/>
          <a:srcRect t="9375" b="14583"/>
          <a:stretch>
            <a:fillRect/>
          </a:stretch>
        </p:blipFill>
        <p:spPr>
          <a:xfrm>
            <a:off x="1774825" y="2095500"/>
            <a:ext cx="14738350" cy="63011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6" name="Text Box 5"/>
          <p:cNvSpPr txBox="1"/>
          <p:nvPr/>
        </p:nvSpPr>
        <p:spPr>
          <a:xfrm>
            <a:off x="590550" y="8563610"/>
            <a:ext cx="17106900" cy="475615"/>
          </a:xfrm>
          <a:prstGeom prst="rect">
            <a:avLst/>
          </a:prstGeom>
          <a:noFill/>
        </p:spPr>
        <p:txBody>
          <a:bodyPr wrap="square" rtlCol="0">
            <a:spAutoFit/>
          </a:bodyPr>
          <a:p>
            <a:pPr algn="ctr"/>
            <a:r>
              <a:rPr lang="en-US" sz="2500"/>
              <a:t>Fig 11: Coverage Report (UVM)</a:t>
            </a:r>
            <a:endParaRPr lang="en-US" sz="2500"/>
          </a:p>
        </p:txBody>
      </p:sp>
      <p:pic>
        <p:nvPicPr>
          <p:cNvPr id="4" name="Picture 3" descr="uvm_coverage"/>
          <p:cNvPicPr>
            <a:picLocks noChangeAspect="1"/>
          </p:cNvPicPr>
          <p:nvPr/>
        </p:nvPicPr>
        <p:blipFill>
          <a:blip r:embed="rId1"/>
          <a:srcRect t="11458" b="16667"/>
          <a:stretch>
            <a:fillRect/>
          </a:stretch>
        </p:blipFill>
        <p:spPr>
          <a:xfrm>
            <a:off x="685800" y="1333500"/>
            <a:ext cx="16760190" cy="67729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7325360" y="205740"/>
            <a:ext cx="619315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Conclusion</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Box 3"/>
          <p:cNvSpPr txBox="1"/>
          <p:nvPr/>
        </p:nvSpPr>
        <p:spPr>
          <a:xfrm>
            <a:off x="1028700" y="2504552"/>
            <a:ext cx="16230600" cy="4314825"/>
          </a:xfrm>
          <a:prstGeom prst="rect">
            <a:avLst/>
          </a:prstGeom>
        </p:spPr>
        <p:txBody>
          <a:bodyPr lIns="0" tIns="0" rIns="0" bIns="0" rtlCol="0" anchor="t">
            <a:spAutoFit/>
          </a:bodyPr>
          <a:lstStyle/>
          <a:p>
            <a:pPr algn="just">
              <a:lnSpc>
                <a:spcPts val="42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Summary of APB Verification</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The functionality and reliability of the APB protocol were verified using Verilog.</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Created testbenches to simulate various scenarios focusing on data transfer, and timing.</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Simulations were conducted using Cadence tools on RedHat OS.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Results showed that the APB protocol met all specified requirements, ensuring accurate and efficient communication between the processor and peripheral devices.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The project enhanced understanding of APB protocol design, Verilog, and the importance of  protocol testing.</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7546975" y="205740"/>
            <a:ext cx="536892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Conclusion</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Box 3"/>
          <p:cNvSpPr txBox="1"/>
          <p:nvPr/>
        </p:nvSpPr>
        <p:spPr>
          <a:xfrm>
            <a:off x="1028700" y="2504552"/>
            <a:ext cx="16230600" cy="5381625"/>
          </a:xfrm>
          <a:prstGeom prst="rect">
            <a:avLst/>
          </a:prstGeom>
        </p:spPr>
        <p:txBody>
          <a:bodyPr lIns="0" tIns="0" rIns="0" bIns="0" rtlCol="0" anchor="t">
            <a:spAutoFit/>
          </a:bodyPr>
          <a:lstStyle/>
          <a:p>
            <a:pPr algn="just">
              <a:lnSpc>
                <a:spcPts val="42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Summary of AHB Verification</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The high speed and high-bandwidth capabilities of the AHB protocol were validated using Verilog.</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Test scenarios assessed burst transfers, split transactions, and arbitration, focusing on data integrity and timing.</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Cadence tools on RedHat OS facilitated simulations.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Results confirmed that the AHB protocol effectively handled high-performance data transactions, maintaining reliable and efficient communication within the SoC architecture.</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Font typeface="Arial" panose="020B0604020202020204"/>
              <a:buChar char="•"/>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This work deepened knowledge of AHB protocols, advanced Verilog skills, and emphasized the value of performance testing in complex designs.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4387850" y="205740"/>
            <a:ext cx="9964420" cy="1292225"/>
          </a:xfrm>
          <a:prstGeom prst="rect">
            <a:avLst/>
          </a:prstGeom>
        </p:spPr>
        <p:txBody>
          <a:bodyPr wrap="square" lIns="0" tIns="0" rIns="0" bIns="0" rtlCol="0" anchor="t">
            <a:spAutoFit/>
          </a:bodyPr>
          <a:lstStyle/>
          <a:p>
            <a:pPr algn="ctr">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Future Works</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Box 3"/>
          <p:cNvSpPr txBox="1"/>
          <p:nvPr/>
        </p:nvSpPr>
        <p:spPr>
          <a:xfrm>
            <a:off x="1028700" y="2504552"/>
            <a:ext cx="16230600" cy="4848225"/>
          </a:xfrm>
          <a:prstGeom prst="rect">
            <a:avLst/>
          </a:prstGeom>
        </p:spPr>
        <p:txBody>
          <a:bodyPr lIns="0" tIns="0" rIns="0" bIns="0" rtlCol="0" anchor="t">
            <a:spAutoFit/>
          </a:bodyPr>
          <a:lstStyle/>
          <a:p>
            <a:pPr marL="647700" lvl="1" indent="-323850" algn="just">
              <a:lnSpc>
                <a:spcPts val="4200"/>
              </a:lnSpc>
              <a:buAutoNum type="arabicPeriod"/>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AXI</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 (Advanced eXtensible Interface): </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Focus on verifying burst transactions, Quality of Service (QoS) features, and handling multiple outstanding transactions.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CHI</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 (Coherent Hub Interface): Investigate its use in cache-coherent interconnects for advanced ARM cores. Ensure efficient synchronization and communication between multiple processors.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AHB to APB Bridge</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 Ensure smooth and efficient data transfer between AHB and APB buses. Validate the bridge's capability to interface pipelined AHB transfers with non-pipelined APB operations.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AXI to APB Bridge</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 Verify seamless communication between high-performance AXI masters and low-power APB slaves.</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7382510" y="205740"/>
            <a:ext cx="7031355" cy="1292225"/>
          </a:xfrm>
          <a:prstGeom prst="rect">
            <a:avLst/>
          </a:prstGeom>
        </p:spPr>
        <p:txBody>
          <a:bodyPr wrap="square" lIns="0" tIns="0" rIns="0" bIns="0" rtlCol="0" anchor="t">
            <a:spAutoFit/>
          </a:bodyPr>
          <a:lstStyle/>
          <a:p>
            <a:pPr algn="l">
              <a:lnSpc>
                <a:spcPts val="10080"/>
              </a:lnSpc>
            </a:pPr>
            <a:r>
              <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References</a:t>
            </a:r>
            <a:endParaRPr lang="en-US" sz="72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TextBox 3"/>
          <p:cNvSpPr txBox="1"/>
          <p:nvPr/>
        </p:nvSpPr>
        <p:spPr>
          <a:xfrm>
            <a:off x="1028700" y="2504552"/>
            <a:ext cx="16230600" cy="5915025"/>
          </a:xfrm>
          <a:prstGeom prst="rect">
            <a:avLst/>
          </a:prstGeom>
        </p:spPr>
        <p:txBody>
          <a:bodyPr lIns="0" tIns="0" rIns="0" bIns="0" rtlCol="0" anchor="t">
            <a:spAutoFit/>
          </a:bodyPr>
          <a:lstStyle/>
          <a:p>
            <a:pPr marL="647700" lvl="1" indent="-323850" algn="just">
              <a:lnSpc>
                <a:spcPts val="4200"/>
              </a:lnSpc>
              <a:buAutoNum type="arabicPeriod"/>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L. Deeksha and B. R. Shivakumar, "Effective Design and Implementation of AMBA AHB Bus Protocol using Verilog," </a:t>
            </a: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2019 International Conference on Intelligent Sustainable Systems (ICISS), Palladam, India, 2019, pp. 1-5, doi: 10.1109/ISS1.2019.8907975.</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E. Ravikumar, K. B. Ganesha, C. Y. Chethana and T. M. Parikshith Roy, "Design and Verification of Advanced Microcontroller Bus Architecture (AMBA) Advanced Peripheral Bus (APB) Protocol," 2024 International Conference on Smart Systems for applications in Electrical Sciences (ICSSES), Tumakuru, India, 2024, pp. 1-5, doi: 10.1109/ICSSES62373.2024.10561369.</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https://www.allaboutcircuits.com/technical-articles/introduction-to-the-advanced-microcontroller-bus-architecture/</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ARM, “AMBA Specification Overview”</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7700" lvl="1" indent="-323850" algn="just">
              <a:lnSpc>
                <a:spcPts val="4200"/>
              </a:lnSpc>
              <a:buAutoNum type="arabicPeriod"/>
            </a:pPr>
            <a:r>
              <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rPr>
              <a:t>ARM, “AMBA AHB Protocol Specification”</a:t>
            </a:r>
            <a:endParaRPr lang="en-US" sz="30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1569081" y="2694643"/>
            <a:ext cx="12776043" cy="3095625"/>
          </a:xfrm>
          <a:prstGeom prst="rect">
            <a:avLst/>
          </a:prstGeom>
        </p:spPr>
        <p:txBody>
          <a:bodyPr lIns="0" tIns="0" rIns="0" bIns="0" rtlCol="0" anchor="t">
            <a:spAutoFit/>
          </a:bodyPr>
          <a:lstStyle/>
          <a:p>
            <a:pPr marL="0" lvl="0" indent="0" algn="l">
              <a:lnSpc>
                <a:spcPts val="21600"/>
              </a:lnSpc>
              <a:spcBef>
                <a:spcPct val="0"/>
              </a:spcBef>
            </a:pPr>
            <a:r>
              <a:rPr lang="en-US" sz="18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Thank You!</a:t>
            </a:r>
            <a:endParaRPr lang="en-US" sz="18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4007</Words>
  <Application>WPS Presentation</Application>
  <PresentationFormat>On-screen Show (4:3)</PresentationFormat>
  <Paragraphs>161</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Arial Nova</vt:lpstr>
      <vt:lpstr>Times New Roman</vt:lpstr>
      <vt:lpstr>Times New Roman Bold</vt:lpstr>
      <vt:lpstr>Arial</vt:lpstr>
      <vt:lpstr>Microsoft YaHei</vt:lpstr>
      <vt:lpstr>Arial Unicode MS</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AMBA Bus Protocol</dc:title>
  <dc:creator/>
  <cp:lastModifiedBy>Vaishnavi Katti</cp:lastModifiedBy>
  <cp:revision>14</cp:revision>
  <dcterms:created xsi:type="dcterms:W3CDTF">2006-08-16T00:00:00Z</dcterms:created>
  <dcterms:modified xsi:type="dcterms:W3CDTF">2025-03-06T13:45:32Z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131BBD9689AC4F979418940F1E4AAE6D_13</vt:lpwstr>
  </property>
  <property fmtid="{D5CDD505-2E9C-101B-9397-08002B2CF9AE}" pid="3" name="KSOProductBuildVer">
    <vt:lpwstr>1033-12.2.0.20323</vt:lpwstr>
  </property>
</Properties>
</file>